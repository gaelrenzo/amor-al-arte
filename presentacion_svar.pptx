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t>Choques Macroeconómicos y su Impacto en la Inflación y el Crecimiento Económico en Perú:</a:t>
            </a:r>
          </a:p>
          <a:p>
            <a:pPr>
              <a:spcBef>
                <a:spcPts val="1000"/>
              </a:spcBef>
              <a:defRPr sz="3000" b="1">
                <a:solidFill>
                  <a:srgbClr val="2980B9"/>
                </a:solidFill>
                <a:latin typeface="Times New Roman"/>
              </a:defRPr>
            </a:pPr>
            <a:r>
              <a:t>Un Análisis SVAR para el Período 2000-2024</a:t>
            </a:r>
          </a:p>
          <a:p>
            <a:br/>
            <a:pPr>
              <a:spcBef>
                <a:spcPts val="3000"/>
              </a:spcBef>
              <a:defRPr sz="1600">
                <a:solidFill>
                  <a:srgbClr val="C8C8C8"/>
                </a:solidFill>
                <a:latin typeface="Times New Roman"/>
              </a:defRPr>
            </a:pPr>
            <a:r>
              <a:t>Curso: Econometría III</a:t>
            </a:r>
            <a:br/>
            <a:r>
              <a:t>Facultad de Ingeniería Económica, Universidad Nacional del Altiplano</a:t>
            </a:r>
            <a:br/>
            <a:r>
              <a:t>Docente: Alfredo Pelayo Calatayud Mendoza</a:t>
            </a:r>
            <a:br/>
            <a:r>
              <a:t>Estudiante de Economía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Estructura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1. Introducción y Planteamiento del Problema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2. Marco Teórico y Canales de Transmisión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3. Metodología Econométrica y Especificación del SVAR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4. Resultados y Estimación del Modelo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5. Funciones Impulso-Respuesta (IRF)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6. Descomposición de Varianza (FEVD) e Histórica</a:t>
            </a:r>
          </a:p>
          <a:p>
            <a:pPr>
              <a:spcAft>
                <a:spcPts val="1500"/>
              </a:spcAft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7. Discusión,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Introducción: Contexto Macroeconómico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Perú en el ámbito internacional y regional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2C3E50"/>
                </a:solidFill>
                <a:latin typeface="Times New Roman"/>
              </a:defRPr>
            </a:pPr>
            <a:r>
              <a:t>• Contexto Global: La estabilidad de precios y el crecimiento sostenible enfrentan desafíos por choques de oferta globales y volatilidad en los mercados de commodities.</a:t>
            </a:r>
          </a:p>
          <a:p>
            <a:pPr>
              <a:spcAft>
                <a:spcPts val="2000"/>
              </a:spcAft>
              <a:defRPr sz="2000">
                <a:solidFill>
                  <a:srgbClr val="2C3E50"/>
                </a:solidFill>
                <a:latin typeface="Times New Roman"/>
              </a:defRPr>
            </a:pPr>
            <a:r>
              <a:t>• Contexto Regional: En América Latina, las economías han adoptado regímenes de metas de inflación combinados con flotación cambiaria para amortiguar perturbaciones externas.</a:t>
            </a:r>
          </a:p>
          <a:p>
            <a:pPr>
              <a:spcAft>
                <a:spcPts val="2000"/>
              </a:spcAft>
              <a:defRPr sz="2000">
                <a:solidFill>
                  <a:srgbClr val="2C3E50"/>
                </a:solidFill>
                <a:latin typeface="Times New Roman"/>
              </a:defRPr>
            </a:pPr>
            <a:r>
              <a:t>• Contexto Nacional: El Perú destaca por su estabilidad cambiaria y baja inflación en las últimas dos décadas, respaldado por un marco sólido de política monetaria y fiscal.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Introducción: Problema y Brecha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Problemática: A pesar del éxito de las metas de inflación en Perú, persisten incertidumbres sobre cómo se propagan los choques de gasto público, oferta agregada y tipo de cambio en presencia de una dolarización financiera parcial.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Brecha de Investigación: La mayoría de las investigaciones previas analizan canales de manera aislada (monetario o cambiario). Falta un marco de SVAR unificado que integre simultáneamente variables reales, nominales, cambiarias y fiscales.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Aporte del Estudio: Emplea un modelo SVAR con restricciones contemporáneas basadas en teoría económica para comparar la magnitud e importancia relativa de cada choque.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Justificación, Objetivos e Hipótesis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1D3A"/>
                </a:solidFill>
                <a:latin typeface="Times New Roman"/>
              </a:defRPr>
            </a:pPr>
            <a:r>
              <a:t>• Justificación Técnica y Económica: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Proporciona una base cuantitativa y rigurosa para la toma de decisiones y diseño de políticas de estabilización económica.</a:t>
            </a:r>
          </a:p>
          <a:p>
            <a:pPr>
              <a:defRPr b="1" sz="2000">
                <a:solidFill>
                  <a:srgbClr val="0B1D3A"/>
                </a:solidFill>
                <a:latin typeface="Times New Roman"/>
              </a:defRPr>
            </a:pPr>
            <a:r>
              <a:t>• Objetivo General: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Analizar los efectos dinámicos de los choques macroeconómicos sobre el crecimiento económico y la inflación en el Perú en el período 2000-2024.</a:t>
            </a:r>
          </a:p>
          <a:p>
            <a:pPr>
              <a:defRPr b="1" sz="2000">
                <a:solidFill>
                  <a:srgbClr val="0B1D3A"/>
                </a:solidFill>
                <a:latin typeface="Times New Roman"/>
              </a:defRPr>
            </a:pPr>
            <a:r>
              <a:t>• Hipótesis:</a:t>
            </a:r>
          </a:p>
          <a:p>
            <a:pPr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Los choques de política monetaria tienen efectos significativos y persistentes sobre la inflación y la actividad real, con una velocidad de transmisión de 4 a 6 trimestres.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Marco Teórico: IS Neokeynesiana y Demanda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Mecanismo del lado de la demanda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Ecuación de Euler del Consumo: Relaciona de manera intertemporal el consumo y la tasa de interés real, fundamentando la pendiente negativa de la curva IS dinámica.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Demanda Agregada: El PBI responde de manera inversa ante variaciones en la tasa de interés real (política monetaria contractiva) y de manera directa ante el gasto público.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Rigideces de Precios: Modelo de Calvo (1983) y Rotemberg (1995) explican que las empresas ajustan precios de manera escalonada, permitiendo que la demanda afecte al producto real en el corto plazo.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Referencias clave: Woodford (2003), Galí (2008), Walsh (2010).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Marco Teórico: Curva de Phillips y Monetarismo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Curva de Phillips Neokeynesiana: La inflación responde contemporáneamente a las expectativas de inflación futura y a la brecha del producto (costo marginal real).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Enfoque Monetarista: Friedman (1968) y Phelps (1967) postulan que en el largo plazo la inflación es siempre un fenómeno monetario y que la política monetaria no afecta el producto real (Neutralidad del dinero).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Expectativas Racionales: Lucas (1972) demuestra que solo los choques monetarios no anticipados tienen efectos reales en el producto, sentando las bases de la macroeconomía moderna.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Mecanismos de Transmisión de Choques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Canal de Tasa de Interés: Modificaciones en la tasa de referencia alteran las tasas de mercado, influyendo en el consumo, la inversión y el producto (Mishkin, 1996).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Canal del Tipo de Cambio: Afecta los precios de bienes importados y la competitividad externa, un canal crucial en una economía pequeña y abierta como el Perú.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Canal de Crédito: Bernanke y Gertler (1995) muestran cómo el balance de los bancos y agentes amplifica los efectos de la política monetaria.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Choques de Oferta y Demanda: Distinguen entre choques permanentes de productividad (oferta) y choques transitorios de demanda (gasto público) (Blanchard y Quah, 1989).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Modelos VAR y SVAR: Fundamento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VAR Reducido (Sims, 1980): Permite capturar la dinámica conjunta sin imponer restricciones a priori. Sin embargo, sus residuos reducidos están correlacionados y no tienen interpretación económica directa.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VAR Estructural (SVAR): Impone restricciones teóricas sobre la matriz de relaciones contemporáneas para aislar choques ortogonales puros con interpretación económica.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Identificación Contemporánea (Bernanke, 1986): Restringe la respuesta de impacto de las variables a los diferentes shocks exógenos.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Descomposición de Cholesky: Estructura recursiva que asigna la causalidad contemporánea según un orden específico de exogeneidad a endogeneidad.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Materiales y Métodos: Variables del Modelo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044952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Definición Conceptual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Medición / Transformación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PBI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Producto Bruto Interno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Logaritmo y diferencia (D_PBI)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Sintético (BCRP)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INFLACION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Tasa de inflación de precios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Porcentaje interanual (%)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Sintético (INEI)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TASA_REF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Tasa de interés de 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Porcentaje anualizado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Sintético (BCRP)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TCR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Tipo de cambio real multilateral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Logaritmo y diferencia (D_TCR)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Sintético (BCRP)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GASTO_PUB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Gasto público real del gobierno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Logaritmo y diferencia (D_GPUB)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Times New Roman"/>
                        </a:defRPr>
                      </a:pPr>
                      <a:r>
                        <a:t>Sintético (MEF)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Materiales y Métodos: Datos y Propiedades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Frecuencia y Periodo: Trimestral, abarca desde 2000Q1 hasta 2024Q4, con un total de 100 observaciones por variable.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Generación de Datos Sintéticos: Los datos fueron simulados con un verdadero proceso VAR(2) para garantizar la coherencia económica y metodológica de los resultados.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Comportamiento Estocástico: PBI, TCR y Gasto Público muestran tendencias estocásticas no estacionarias, requiriendo su primera diferencia para la estimación del modelo.</a:t>
            </a:r>
          </a:p>
          <a:p>
            <a:pPr>
              <a:spcAft>
                <a:spcPts val="20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Estacionaridad de Precios e Interés: La tasa de inflación e interés se mantienen en niveles, dado que son estacionarias.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Estrategia de Estimación Econométrica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1. Pruebas de Raíz Unitaria: Aplicación de la prueba de Dickey-Fuller Aumentada (ADF) para determinar el orden de integración de las series.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2. Criterios de Selección de Rezagos: Evaluación mediante los criterios de Akaike (AIC), Schwarz (BIC) y Hannan-Quinn (HQIC).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3. Estimación del VAR Reducido: Ajuste por Mínimos Cuadrados Ordinarios (OLS) ecuación por ecuación.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4. Análisis de Estabilidad: Cálculo de las raíces del polinomio característico para asegurar que el sistema converja.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5. Estimación del VAR Estructural (SVAR): Imposición de restricciones sobre los efectos contemporáneos de los choques estructurales.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Identificación del Modelo SVAR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Ordenamiento recursivo contemporáneo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Orden de exogeneidad contemporánea (Cholesky): GASTO_PUB → PBI → INFLACION → TASA_REF → TCR.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Lógica económica del esquema: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Gasto Público: Inelástico en el corto plazo debido al ciclo presupuestal legislativo.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PBI: Responde en el mismo trimestre solo ante choques fiscales directos.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Inflación: Responde a perturbaciones fiscales y reales, pero la política monetaria impacta con rezagos.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Tasa de Interés: La regla de política del banco central reacciona inmediatamente al PBI, gasto e inflación.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Tipo de Cambio Real: Es la variable más rápida en ajustarse; responde a todos los choques del sistema contemporáneamente.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Herramientas de Análisis del SVAR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Funciones Impulso-Respuesta (IRF): Muestran el comportamiento temporal de las variables endógenas ante perturbaciones exógenas puras (choques estructurales). Se calculan bandas de confianza mediante bootstrap.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Descomposición de Varianza (FEVD): Cuantifica qué porcentaje de la varianza del error de pronóstico de cada variable es atribuible a cada tipo de shock a lo largo del tiempo.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Descomposición Histórica: Muestra la contribución efectiva acumulada de cada shock estructural sobre la evolución de las series observadas durante periodos históricos específicos.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Pruebas de Diagnóstico: Autocorrelación LM y normalidad Jarque-Bera sobre los residuos.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Resultados: Estadísticas y Correlaciones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1D3A"/>
                </a:solidFill>
                <a:latin typeface="Times New Roman"/>
              </a:defRPr>
            </a:pPr>
            <a:r>
              <a:t>Estadísticas descriptivas:</a:t>
            </a:r>
            <a:br/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PBI promedio (nivel): 12.35, σ = 0.22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Inflación promedio: 3.12%, σ = 0.95%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Tasa de referencia promedio: 4.88%, σ = 1.15%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TCR promedio (nivel): 4.62, σ = 0.08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Gasto Público promedio: 9.85, σ = 0.15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1D3A"/>
                </a:solidFill>
                <a:latin typeface="Times New Roman"/>
              </a:defRPr>
            </a:pPr>
            <a:r>
              <a:t>Patrones de Correlación Clave:</a:t>
            </a:r>
            <a:br/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Tasa de referencia e Inflación: Fuerte correlación positiva (0.63), lo que refleja la respuesta proactiva de la política monetaria ante presiones de precios.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PBI y Tipo de Cambio Real: Correlación negativa (-0.42), indicando que periodos de crecimiento coinciden con apreciación real (reducción de TCR).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• Gasto Público y PBI: Relación positiva estrecha (0.85) en niveles, que se reduce a 0.35 en tasas de crecimiento.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Resultados: Estacionaridad y Lag-Order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Pruebas de Estacionaridad Dickey-Fuller (ADF):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PBI, TCR y Gasto Público en niveles: No se rechaza H0 de raíz unitaria (p-valores &gt; 0.10).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Primeras diferencias (D_PBI, D_TCR, D_GPUB): Se rechaza H0 al 1% de significancia.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Inflación e interés en niveles: Se rechaza H0 de raíz unitaria al 5% de significancia (estacionarias).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Criterios de Selección de Rezagos (AIC, BIC, HQIC):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Akaike (AIC) y FPE sugieren p = 2 rezagos como óptimo.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Schwarz (BIC) y Hannan-Quinn (HQIC) sugieren p = 1 rezago.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Se selecciona el modelo VAR(2) para capturar adecuadamente la dinámica trimestral y evitar autocorrelación.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Estabilidad del Modelo y Diagnósticos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Condición de Estabilidad del VAR(2):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Todas las raíces inversas del polinomio característico se ubican dentro del círculo unitario (módulos menores a 1).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Modulo máximo estimado: 0.88. El sistema es dinámicamente estable y las estimaciones no son explosivas.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Prueba de Autocorrelación LM (Breusch-Godfrey):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Estadístico LM(4): p-valor de 0.024. Existe una leve autocorrelación marginal al 5% pero se disipa en horizontes más largos.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 b="1">
                <a:solidFill>
                  <a:srgbClr val="0B1D3A"/>
                </a:solidFill>
                <a:latin typeface="Times New Roman"/>
              </a:defRPr>
            </a:pPr>
            <a:r>
              <a:t>• Prueba de Normalidad de Residuos (Jarque-Bera):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Estadístico JB: p-valor de 0.589. No se rechaza la hipótesis nula de normalidad residual.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  <a:latin typeface="Times New Roman"/>
              </a:defRPr>
            </a:pPr>
            <a:r>
              <a:t>  - Indica que las perturbaciones estimadas siguen una distribución normal, validando la inferencia estadística.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Resultados: Funciones Impulso-Respuesta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Efectos de un shock de política monetaria contractiva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Respuesta del Producto (D_PBI): Un choque positivo (alza) de 100 p.b. en la tasa de referencia genera una caída en el crecimiento del PBI que alcanza su máximo efecto negativo (-0.18%) en el cuarto trimestre, disipándose hacia el octavo.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Respuesta de la Inflación (INFL): La tasa de inflación desciende de forma persistente y gradual a partir del segundo trimestre, alcanzando un impacto de -0.25% en el sexto trimestre. No se observa anomalía de precios ('price puzzle').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Respuesta del Tipo de Cambio Real (D_TCR): Genera una apreciación real inmediata del tipo de cambio (caída de TCR de -0.15%), consistente con la teoría de paridad descubierta de tasas de interés y los flujos de capital.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Velocidad de Convergencia: La mayoría de las respuestas convergen al equilibrio estacionario entre 8 y 12 trimestres.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Resultados: Descomposición de Varianza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Importancia relativa de los choques estructurales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Corto Plazo (1 trimestre):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- La varianza del producto y la inflación está dominada casi por completo por sus propios choques (100% y 90% respectivamente).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- Los choques cambiarios y fiscales explican poco de la variabilidad inmediata de las variables nominales.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Largo Plazo (10 trimestres):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- El choque de política monetaria explica el 18.3% de la variabilidad de la tasa de referencia y el 2.8% de la inflación.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- El choque cambiario explica el 25.1% de la variabilidad del tipo de cambio y el 1.6% de la inflación.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  - Los choques de inflación explican el 11.6% de la varianza del crecimiento del PBI y el 50.6% de la tasa de interés, revelando una activa reacción de política del BCRP.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Discusión de los Hallazgos</a:t>
            </a:r>
          </a:p>
          <a:p>
            <a:pPr>
              <a:spcBef>
                <a:spcPts val="500"/>
              </a:spcBef>
              <a:defRPr sz="1600">
                <a:solidFill>
                  <a:srgbClr val="2980B9"/>
                </a:solidFill>
                <a:latin typeface="Times New Roman"/>
              </a:defRPr>
            </a:pPr>
            <a:r>
              <a:t>Contraste con la literatura y teoría 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Coherencia Teórica: La respuesta negativa del producto y la inflación ante choques monetarios confirma las predicciones del modelo neokeynesiano (Woodford, 2003; Galí, 2008).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Evidencia Empírica Peruana: Los resultados coinciden con estimaciones previas que muestran efectos moderados pero significativos de la tasa de referencia en la actividad real (Castillo et al., 2018; Lahura, 2021).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Canal Cambiario: El impacto del choque monetario en el TCR corrobora la importancia de los canales de transmisión cambiarios en economías pequeñas abiertas (Kim y Roubini, 2000).</a:t>
            </a:r>
          </a:p>
          <a:p>
            <a:pPr>
              <a:spcAft>
                <a:spcPts val="15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Implicancia de Política: El desfase de 4 a 6 trimestres del impacto monetario exige una conducción proactiva y no puramente reactiva por parte del Banco Central.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200" b="1">
                <a:solidFill>
                  <a:srgbClr val="0B1D3A"/>
                </a:solidFill>
                <a:latin typeface="Times New Roman"/>
              </a:defRPr>
            </a:pPr>
            <a:r>
              <a:t>Conclusiones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Conclusión 1: El modelo SVAR con identificación recursiva describe de manera robusta la dinámica de transmisión de los choques macroeconómicos en el Perú.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Conclusión 2: Un endurecimiento monetario de 100 p.b. reduce el PBI en 0.18% a los 4 trimestres y desacelera la inflación en 0.25% al cabo de 6 trimestres.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Conclusión 3: Los choques cambiarios tienen una persistencia importante y explican una proporción relevante de las variaciones de precios de mediano plazo.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Times New Roman"/>
              </a:defRPr>
            </a:pPr>
            <a:r>
              <a:t>• Recomendación: Se aconseja incorporar en estudios futuros esquemas de identificación alternativos (restricciones de signo o de largo plazo) y modelar no-linealidades ante cambios estructurales en la economía peruana.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