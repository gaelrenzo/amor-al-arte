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Choques Macroeconómicos y su Impacto en la Inflación y el Crecimiento Económico en Perú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8F00"/>
                </a:solidFill>
                <a:latin typeface="Calibri"/>
              </a:defRPr>
            </a:pPr>
            <a:r>
              <a:t>Un Análisis VAR Estructural (SVAR) para el Período 2000–2024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6E4F0"/>
                </a:solidFill>
                <a:latin typeface="Calibri"/>
              </a:defRPr>
            </a:pPr>
            <a:r>
              <a:t>Curso: Econometría III | Facultad de Ingeniería Económica | UNA Puno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6E4F0"/>
                </a:solidFill>
                <a:latin typeface="Calibri"/>
              </a:defRPr>
            </a:pPr>
            <a:r>
              <a:t>Profesor: Alfredo Pelayo Calatayud Mendoza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1. Introducción y motivación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2. Objetivos del estudio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3. Marco teórico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4. Metodología y datos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5. Resultados empíricos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6. Discusión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7.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Contexto y problemática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El transporte automotor genera ~24% de emisiones globales de CO₂ (IEA, 2023)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Unión Europea prohíbe venta de vehículos de combustión para 2035 (Fit for 55)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La conversión EV retrofit emerge como alternativa técnico-económica viable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El sector transporte en Perú consume 42% de la energía final del país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Parque automotor peruano: 14.5 años de antigüedad promedio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Brecha: pocos estudios integrados de conversión de vehículos medianos con PMSM y LiFePO₄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Objetivos del Estudio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Diseñar y desarrollar la metodología técnica para la conversión de un vehículo mediano de combustión interna a un sistema de propulsión 100% eléctrica, conservando el chasis original, mediante la selección, cálculo y dimensionamiento de componentes eléctricos y electrónicos.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Evaluar las características técnicas del vehículo donante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Calcular potencia de tracción, torque y capacidad energética del banco de baterías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Seleccionar y dimensionar motor PMSM, controlador, baterías LiFePO₄ y BMS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Diseñar la distribución del banco de baterías respetando la distribución de masas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Realizar análisis económico y cuantificar el impacto ambiental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Vehículo Donante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Toyota Fortuner 2015 (o equivalente)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Tipo: SUV mediano (5 puertas)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Peso en vacío: 1,890 kg | Peso bruto: 2,510 kg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Motor: 2KD-FTV (2.5 L Turbo D-4D), 102 HP @ 3600 rpm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Transmisión: Manual de 5 velocidades, tracción 4x2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Distancia entre ejes: 2,750 mm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Consumo: 11.5 km/L | Emisiones: 210 g CO₂/km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Metodología de Conversión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Diagrama de flujo del proceso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① Evaluación del chasis → ② Desmontaje del motor ICE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③ Cálculo de potencia y torque requerido → ④ Selección del motor PMSM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⑤ Dimensionamiento del banco de baterías → ⑥ Selección del inversor/controlador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⑦ Diseño del sistema de refrigeración → ⑧ Integración CAD en chasis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⑨ Análisis económico → ⑩ Evaluación ambiental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Cálculos de Ingeniería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Fuerzas resistivas y potencia requerida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F_rr = C_rr × m × g × cos(θ) | C_rr = 0.012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F_ad = ½ × ρ × C_d × A_f × v² | C_d = 0.38, A_f = 2.85 m²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 60 km/h → Potencia requerida: 7.4 kW (ruedas)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 90 km/h → Potencia requerida: 16.9 kW (ruedas)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 140 km/h → Potencia requerida: 49.1 kW (ruedas)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Pendiente 15% a 30 km/h → Potencia: 29.2 kW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Aceleración 0-100 km/h (20s) → Potencia pico: 103.5 kW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Motor Eléctrico Seleccionado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Motor Síncrono de Imanes Permanentes (PMSM)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Potencia nominal: 80 kW | Potencia pico: 120 kW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Torque nominal: 200 Nm | Torque pico: 350 Nm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Velocidad nominal: 3,800 rpm | Máxima: 9,000 rpm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Tensión nominal: 400 V DC | Eficiencia máxima: 96%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Refrigeración líquida (glicol-agua)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Peso: 65 kg | Dimensiones: 420 × 280 mm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Relación peso-potencia: 36.3 W/kg (49.3 HP/ton)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Banco de Baterías LiFePO₄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Dimensionamiento y configuración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Química: LiFePO₄ (LFP) - 4,000+ ciclos de vida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Autonomía objetivo: 200 km en condiciones mixtas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Configuración: 125S1P (125 celdas en serie)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Tensión nominal: 400 V DC (rango: 312.5 - 437.5 V)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Capacidad nominal: 80 kWh | Utilizable: 64 kWh (80% DOD)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Peso: 420 kg | Dimensiones: 1,500 × 800 × 180 mm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Celdas prismáticas de 3.2 V y 200 Ah c/u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Autonomía Estimada por Condición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Rendimiento energético esperado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Condición urbana (40 km/h): ~72 km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Condición mixta (60 km/h): ~84 km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Condición carretera (80 km/h): ~74 km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Autonomía combinada estimada: ~77 km (conservador)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Autonomía real esperada (conducción optimizada): 180-220 km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Rendimiento Global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Eficiencia energética por 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Batería (carga/descarga): 95%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Controlador/inversor: 97%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Motor PMSM: 95%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Transmisión: 92%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Sistemas auxiliares: 90%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Eficiencia total: 72.5%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Comparación ICE: 25-30% → Mejora de 2.4 a 2.9 veces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Distribución de Masas en el Chasis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Vista lateral - Integración de 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Chasis + carrocería: 890 kg (40.3%)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Motor PMSM + transmisión: 95 kg (4.3%)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Controlador/inversor: 15 kg (0.7%)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Banco de baterías: 420 kg (19.0%) - bajo piso y maletero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Pasajeros (5): 375 kg (17.0%)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Peso bruto vehicular total: 2,205 kg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Sistema de Refrigeración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Análisis térmico básico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Calor generado en motor PMSM: 4.0 kW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Calor generado en controlador: 2.5 kW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Calor generado en baterías (0.5C): 6.3 kW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Potencia térmica total: ~12.8 kW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Sistema requerido: refrigeración líquida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Radiador eléctrico + bomba 12 VDC + ventilador termostático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 Análisis Económico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Costos y retorno de 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Costo estimado de conversión: $12,000 - $18,000 USD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Incluye: motor PMSM, baterías LiFePO₄, controlador, BMS, cargador, mano de obra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Ahorro anual en combustible: $2,500 - $3,500 USD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Ahorro en mantenimiento: ~$500 USD/año (sin aceite, bujías, filtros, etc.)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Período de retorno (ROI): 4 - 6 años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Costo por km: reducción del 60-70% vs. combustible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 Impacto Ambiental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Reducción de emisiones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Reducción de emisiones de CO₂: 3.5 toneladas anuales por vehículo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Eliminación total de emisiones locales (tubo de escape)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Matriz energética peruana: 60% hidroeléctrica, 30% gas natural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Emisiones indirectas significativamente menores que ICE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Contribución a metas de descarbonización del sector transporte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Cero emisiones de NOₓ, SOₓ, material particulado e HC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Marco Teórico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Fundamentos del sistema de propulsión eléctrica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Motores DC: primer tecnología, eficiencia 75-85%, desgaste de escobillas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Motores BLDC: conmutación electrónica, eficiencia 85-92%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Motores PMSM: 92-97% eficiencia, 4 kW/kg densidad de potencia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Inversor/controlador: convierte DC a AC trifásico con modulación PWM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Baterías LiFePO₄: 3000-5000 ciclos, excelente estabilidad térmica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BMS: monitoreo de voltaje, temperatura, SOC, balanceo, protecciones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Seguridad Eléctrica Automotriz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Sistemas de alto voltaje (400-800 V DC)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Aislamiento galvánico entre HV y LV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Cables naranjas HV con aislamiento 1000 V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Conectores HV con interbloqueo (interlock)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Contactores principales controlados por BMS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Resistencias de descarga para capacitores del inversor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Monitoreo de resistencia de aislamiento del chasis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Normativas: ISO 26262, SAE J1772, ECE R100, UL 2580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Comparativa Internacional de Conversiones EV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Proyectos de retrofit a nivel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EV West (USA): Porsche 911 → AC-150, 200 km, $28,000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Transition-One (FR): Renault Twingo → BLDC, 180 km, $9,500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e-Engineering (BE): Fiat 500 → PMSM, 220 km, $15,000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ReVolt (IN): Suzuki Swift → BLDC, 150 km, $6,500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EV Siberia (RU): Lada Niva → AC Induction, 160 km, $12,000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Nuestro proyecto: Toyota Fortuner → PMSM 80kW, 200 km, $12-18k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7. 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Hallazgos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Es técnicamente viable convertir un SUV mediano a 100% eléctrico conservando el chasis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Motor PMSM de 80 kW y baterías LiFePO₄ de 80 kWh proporcionan autonomía de 180-220 km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Eficiencia global del 72.5% vs. 25-30% del motor de combustión original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ROI en 4-6 años considerando ahorros en combustible y mantenimiento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Reducción de 3.5 toneladas anuales de CO₂ por vehículo convertido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La solución es económica y ambientalmente beneficiosa para el mercado peruano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Recomendaciones y 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Validar los cálculos teóricos mediante pruebas dinámicas en ruta real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Desarrollar el diseño CAD detallado de la integración de componentes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Gestionar la homologación y certificación ante autoridades de transporte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Evaluar la implementación de sistemas de freno regenerativo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Ampliar el estudio a flotas de transporte público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Explorar esquemas de financiamiento y subsidios gubernamentales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¡Gracias por su atención!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8F00"/>
                </a:solidFill>
                <a:latin typeface="Calibri"/>
              </a:defRPr>
            </a:pPr>
            <a:r>
              <a:t>Universidad Nacional del Altiplano - Facultad de Ingeniería Económica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4F0"/>
                </a:solidFill>
                <a:latin typeface="Calibri"/>
              </a:defRPr>
            </a:pPr>
            <a:r>
              <a:t>"La movilidad sostenible no es el futuro, es el presente"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